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60000">
            <a:off x="6400800" y="-548640"/>
            <a:ext cx="6583680" cy="841248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35240" y="228600"/>
            <a:ext cx="54864" cy="64008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228600"/>
            <a:ext cx="54864" cy="6400800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48495" y="-457200"/>
            <a:ext cx="3657600" cy="3657600"/>
          </a:xfrm>
          <a:prstGeom prst="ellipse">
            <a:avLst/>
          </a:prstGeom>
          <a:solidFill>
            <a:srgbClr val="060812"/>
          </a:solidFill>
          <a:ln w="63500">
            <a:solidFill>
              <a:srgbClr val="CC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71600" y="4297680"/>
            <a:ext cx="3840480" cy="2926080"/>
          </a:xfrm>
          <a:prstGeom prst="ellipse">
            <a:avLst/>
          </a:prstGeom>
          <a:solidFill>
            <a:srgbClr val="060812"/>
          </a:solidFill>
          <a:ln w="50800">
            <a:solidFill>
              <a:srgbClr val="22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31375" y="0"/>
            <a:ext cx="2560320" cy="164592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502920"/>
            <a:ext cx="2331720" cy="475488"/>
          </a:xfrm>
          <a:prstGeom prst="round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⚡ HACKATHON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132588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 Light"/>
              </a:rPr>
              <a:t>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234440"/>
            <a:ext cx="292608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7200" b="1">
                <a:solidFill>
                  <a:srgbClr val="22E3FF"/>
                </a:solidFill>
                <a:latin typeface="Calibri Light"/>
              </a:rPr>
              <a:t>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59152"/>
            <a:ext cx="11185855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1">
                <a:solidFill>
                  <a:srgbClr val="CCFF00"/>
                </a:solidFill>
                <a:latin typeface="Consolas"/>
              </a:rPr>
              <a:t>SUPPLY CHAIN RISK COMMAND 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71800"/>
            <a:ext cx="11185855" cy="10515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 b="0">
                <a:solidFill>
                  <a:srgbClr val="C8D4E8"/>
                </a:solidFill>
                <a:latin typeface="Calibri"/>
              </a:rPr>
              <a:t>Maritime &amp; logistics signals → live probability → your footprint on a 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17720"/>
            <a:ext cx="2670048" cy="658368"/>
          </a:xfrm>
          <a:prstGeom prst="roundRect">
            <a:avLst/>
          </a:prstGeom>
          <a:solidFill>
            <a:srgbClr val="0C1222"/>
          </a:solidFill>
          <a:ln w="25400">
            <a:solidFill>
              <a:srgbClr val="39F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764024"/>
            <a:ext cx="23042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9FF9C"/>
                </a:solidFill>
                <a:latin typeface="Consolas"/>
              </a:defRPr>
            </a:pPr>
            <a:r>
              <a:t>LIVE SIGNALS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617720"/>
            <a:ext cx="2670048" cy="658368"/>
          </a:xfrm>
          <a:prstGeom prst="roundRect">
            <a:avLst/>
          </a:prstGeom>
          <a:solidFill>
            <a:srgbClr val="0C1222"/>
          </a:solidFill>
          <a:ln w="25400">
            <a:solidFill>
              <a:srgbClr val="22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4764024"/>
            <a:ext cx="23042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2E3FF"/>
                </a:solidFill>
                <a:latin typeface="Consolas"/>
              </a:defRPr>
            </a:pPr>
            <a:r>
              <a:t>PROBABILITY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617720"/>
            <a:ext cx="2670048" cy="658368"/>
          </a:xfrm>
          <a:prstGeom prst="roundRect">
            <a:avLst/>
          </a:prstGeom>
          <a:solidFill>
            <a:srgbClr val="0C1222"/>
          </a:solidFill>
          <a:ln w="25400">
            <a:solidFill>
              <a:srgbClr val="FF2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4764024"/>
            <a:ext cx="23042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2D95"/>
                </a:solidFill>
                <a:latin typeface="Consolas"/>
              </a:defRPr>
            </a:pPr>
            <a:r>
              <a:t>ENTERPRISE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63640"/>
            <a:ext cx="11185855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0">
                <a:solidFill>
                  <a:srgbClr val="7A88A3"/>
                </a:solidFill>
                <a:latin typeface="Calibri"/>
              </a:rPr>
              <a:t>CursorHackathon · Vector-Devs</a:t>
            </a:r>
          </a:p>
        </p:txBody>
      </p:sp>
      <p:pic>
        <p:nvPicPr>
          <p:cNvPr id="23" name="Picture 22" descr="riscon-mark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502920"/>
            <a:ext cx="1572768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60000">
            <a:off x="6400800" y="-548640"/>
            <a:ext cx="6583680" cy="841248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35240" y="228600"/>
            <a:ext cx="54864" cy="64008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228600"/>
            <a:ext cx="54864" cy="6400800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2560320" cy="164592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7472"/>
            <a:ext cx="1118585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Consolas"/>
              </a:rPr>
              <a:t>1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1185855" cy="6583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26464"/>
            <a:ext cx="109728" cy="4270248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426464"/>
            <a:ext cx="11185855" cy="4270248"/>
          </a:xfrm>
          <a:prstGeom prst="roundRect">
            <a:avLst/>
          </a:prstGeom>
          <a:solidFill>
            <a:srgbClr val="12182A"/>
          </a:solidFill>
          <a:ln w="31750">
            <a:solidFill>
              <a:srgbClr val="22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73936"/>
            <a:ext cx="10472623" cy="3831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500">
                <a:solidFill>
                  <a:srgbClr val="22E3FF"/>
                </a:solidFill>
                <a:latin typeface="Calibri"/>
              </a:rPr>
              <a:t>No live link</a:t>
            </a:r>
            <a:r>
              <a:rPr b="0" sz="1500">
                <a:solidFill>
                  <a:srgbClr val="C8D4E8"/>
                </a:solidFill>
                <a:latin typeface="Calibri"/>
              </a:rPr>
              <a:t> — alerts &amp; spreadsheets aren’t tied to plants, suppliers, or in‑transit goods.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0" sz="1300">
                <a:solidFill>
                  <a:srgbClr val="C8D4E8"/>
                </a:solidFill>
                <a:latin typeface="Calibri"/>
              </a:rPr>
              <a:t>EU: </a:t>
            </a:r>
            <a:r>
              <a:rPr b="1" sz="1300">
                <a:solidFill>
                  <a:srgbClr val="22E3FF"/>
                </a:solidFill>
                <a:latin typeface="Calibri"/>
              </a:rPr>
              <a:t>~59,961</a:t>
            </a:r>
            <a:r>
              <a:rPr b="0" sz="1300">
                <a:solidFill>
                  <a:srgbClr val="C8D4E8"/>
                </a:solidFill>
                <a:latin typeface="Calibri"/>
              </a:rPr>
              <a:t> medium-sized manufacturers (50–249 employees), </a:t>
            </a:r>
            <a:r>
              <a:rPr b="1" sz="1300">
                <a:solidFill>
                  <a:srgbClr val="22E3FF"/>
                </a:solidFill>
                <a:latin typeface="Calibri"/>
              </a:rPr>
              <a:t>2024</a:t>
            </a:r>
            <a:r>
              <a:rPr b="0" sz="1300">
                <a:solidFill>
                  <a:srgbClr val="C8D4E8"/>
                </a:solidFill>
                <a:latin typeface="Calibri"/>
              </a:rPr>
              <a:t> — Statista (stat. 1253133).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0" sz="1300">
                <a:solidFill>
                  <a:srgbClr val="C8D4E8"/>
                </a:solidFill>
                <a:latin typeface="Calibri"/>
              </a:rPr>
              <a:t>EU manufacturing: </a:t>
            </a:r>
            <a:r>
              <a:rPr b="1" sz="1300">
                <a:solidFill>
                  <a:srgbClr val="22E3FF"/>
                </a:solidFill>
                <a:latin typeface="Calibri"/>
              </a:rPr>
              <a:t>~2.2 million</a:t>
            </a:r>
            <a:r>
              <a:rPr b="0" sz="1300">
                <a:solidFill>
                  <a:srgbClr val="C8D4E8"/>
                </a:solidFill>
                <a:latin typeface="Calibri"/>
              </a:rPr>
              <a:t> enterprises total (</a:t>
            </a:r>
            <a:r>
              <a:rPr b="1" sz="1300">
                <a:solidFill>
                  <a:srgbClr val="22E3FF"/>
                </a:solidFill>
                <a:latin typeface="Calibri"/>
              </a:rPr>
              <a:t>2023</a:t>
            </a:r>
            <a:r>
              <a:rPr b="0" sz="1300">
                <a:solidFill>
                  <a:srgbClr val="C8D4E8"/>
                </a:solidFill>
                <a:latin typeface="Calibri"/>
              </a:rPr>
              <a:t>) — </a:t>
            </a:r>
            <a:r>
              <a:rPr b="1" sz="1300">
                <a:solidFill>
                  <a:srgbClr val="22E3FF"/>
                </a:solidFill>
                <a:latin typeface="Calibri"/>
              </a:rPr>
              <a:t>Eurostat</a:t>
            </a:r>
            <a:r>
              <a:rPr b="0" sz="1300">
                <a:solidFill>
                  <a:srgbClr val="C8D4E8"/>
                </a:solidFill>
                <a:latin typeface="Calibri"/>
              </a:rPr>
              <a:t> (most are micro/small; mid-market = ICP).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0" sz="1300">
                <a:solidFill>
                  <a:srgbClr val="C8D4E8"/>
                </a:solidFill>
                <a:latin typeface="Calibri"/>
              </a:rPr>
              <a:t>Global </a:t>
            </a:r>
            <a:r>
              <a:rPr b="1" sz="1300">
                <a:solidFill>
                  <a:srgbClr val="22E3FF"/>
                </a:solidFill>
                <a:latin typeface="Calibri"/>
              </a:rPr>
              <a:t>control-tower</a:t>
            </a:r>
            <a:r>
              <a:rPr b="0" sz="1300">
                <a:solidFill>
                  <a:srgbClr val="C8D4E8"/>
                </a:solidFill>
                <a:latin typeface="Calibri"/>
              </a:rPr>
              <a:t> market often quoted </a:t>
            </a:r>
            <a:r>
              <a:rPr b="1" sz="1300">
                <a:solidFill>
                  <a:srgbClr val="22E3FF"/>
                </a:solidFill>
                <a:latin typeface="Calibri"/>
              </a:rPr>
              <a:t>~US$6.8–7.2B (2024–25)</a:t>
            </a:r>
            <a:r>
              <a:rPr b="0" sz="1300">
                <a:solidFill>
                  <a:srgbClr val="C8D4E8"/>
                </a:solidFill>
                <a:latin typeface="Calibri"/>
              </a:rPr>
              <a:t> → </a:t>
            </a:r>
            <a:r>
              <a:rPr b="1" sz="1300">
                <a:solidFill>
                  <a:srgbClr val="22E3FF"/>
                </a:solidFill>
                <a:latin typeface="Calibri"/>
              </a:rPr>
              <a:t>~US$12.7B by 2035</a:t>
            </a:r>
            <a:r>
              <a:rPr b="0" sz="1300">
                <a:solidFill>
                  <a:srgbClr val="C8D4E8"/>
                </a:solidFill>
                <a:latin typeface="Calibri"/>
              </a:rPr>
              <a:t> — analyst summaries (e.g. WiseGuyReports / Industry Today).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500">
                <a:solidFill>
                  <a:srgbClr val="22E3FF"/>
                </a:solidFill>
                <a:latin typeface="Calibri"/>
              </a:rPr>
              <a:t>How it’s tackled today</a:t>
            </a:r>
            <a:r>
              <a:rPr b="0" sz="1500">
                <a:solidFill>
                  <a:srgbClr val="C8D4E8"/>
                </a:solidFill>
                <a:latin typeface="Calibri"/>
              </a:rPr>
              <a:t> — email chains, shared </a:t>
            </a:r>
            <a:r>
              <a:rPr b="1" sz="1500">
                <a:solidFill>
                  <a:srgbClr val="22E3FF"/>
                </a:solidFill>
                <a:latin typeface="Calibri"/>
              </a:rPr>
              <a:t>Excel</a:t>
            </a:r>
            <a:r>
              <a:rPr b="0" sz="1500">
                <a:solidFill>
                  <a:srgbClr val="C8D4E8"/>
                </a:solidFill>
                <a:latin typeface="Calibri"/>
              </a:rPr>
              <a:t> risk registers, and siloed spreadsheets; </a:t>
            </a:r>
            <a:r>
              <a:rPr b="1" sz="1500">
                <a:solidFill>
                  <a:srgbClr val="22E3FF"/>
                </a:solidFill>
                <a:latin typeface="Calibri"/>
              </a:rPr>
              <a:t>no</a:t>
            </a:r>
            <a:r>
              <a:rPr b="0" sz="1500">
                <a:solidFill>
                  <a:srgbClr val="C8D4E8"/>
                </a:solidFill>
                <a:latin typeface="Calibri"/>
              </a:rPr>
              <a:t> single live view across plants &amp; suppliers.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300">
                <a:solidFill>
                  <a:srgbClr val="22E3FF"/>
                </a:solidFill>
                <a:latin typeface="Calibri"/>
              </a:rPr>
              <a:t>~24–48h</a:t>
            </a:r>
            <a:r>
              <a:rPr b="0" sz="1300">
                <a:solidFill>
                  <a:srgbClr val="C8D4E8"/>
                </a:solidFill>
                <a:latin typeface="Calibri"/>
              </a:rPr>
              <a:t> typical lag to align on exposure &amp; action — manual handoffs, not live signals. </a:t>
            </a:r>
            <a:r>
              <a:rPr b="1" sz="1300">
                <a:solidFill>
                  <a:srgbClr val="22E3FF"/>
                </a:solidFill>
                <a:latin typeface="Calibri"/>
              </a:rPr>
              <a:t>Kinaxis</a:t>
            </a:r>
            <a:r>
              <a:rPr b="0" sz="1300">
                <a:solidFill>
                  <a:srgbClr val="C8D4E8"/>
                </a:solidFill>
                <a:latin typeface="Calibri"/>
              </a:rPr>
              <a:t> research (</a:t>
            </a:r>
            <a:r>
              <a:rPr b="1" sz="1300">
                <a:solidFill>
                  <a:srgbClr val="22E3FF"/>
                </a:solidFill>
                <a:latin typeface="Calibri"/>
              </a:rPr>
              <a:t>2024</a:t>
            </a:r>
            <a:r>
              <a:rPr b="0" sz="1300">
                <a:solidFill>
                  <a:srgbClr val="C8D4E8"/>
                </a:solidFill>
                <a:latin typeface="Calibri"/>
              </a:rPr>
              <a:t>): </a:t>
            </a:r>
            <a:r>
              <a:rPr b="1" sz="1300">
                <a:solidFill>
                  <a:srgbClr val="22E3FF"/>
                </a:solidFill>
                <a:latin typeface="Calibri"/>
              </a:rPr>
              <a:t>83%</a:t>
            </a:r>
            <a:r>
              <a:rPr b="0" sz="1300">
                <a:solidFill>
                  <a:srgbClr val="C8D4E8"/>
                </a:solidFill>
                <a:latin typeface="Calibri"/>
              </a:rPr>
              <a:t> of supply chains </a:t>
            </a:r>
            <a:r>
              <a:rPr b="1" sz="1300">
                <a:solidFill>
                  <a:srgbClr val="22E3FF"/>
                </a:solidFill>
                <a:latin typeface="Calibri"/>
              </a:rPr>
              <a:t>cannot</a:t>
            </a:r>
            <a:r>
              <a:rPr b="0" sz="1300">
                <a:solidFill>
                  <a:srgbClr val="C8D4E8"/>
                </a:solidFill>
                <a:latin typeface="Calibri"/>
              </a:rPr>
              <a:t> respond to disruptions within </a:t>
            </a:r>
            <a:r>
              <a:rPr b="1" sz="1300">
                <a:solidFill>
                  <a:srgbClr val="22E3FF"/>
                </a:solidFill>
                <a:latin typeface="Calibri"/>
              </a:rPr>
              <a:t>24 hours</a:t>
            </a:r>
            <a:r>
              <a:rPr b="0" sz="1300">
                <a:solidFill>
                  <a:srgbClr val="C8D4E8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500">
                <a:solidFill>
                  <a:srgbClr val="22E3FF"/>
                </a:solidFill>
                <a:latin typeface="Calibri"/>
              </a:rPr>
              <a:t>Large EU+US pool</a:t>
            </a:r>
            <a:r>
              <a:rPr b="0" sz="1500">
                <a:solidFill>
                  <a:srgbClr val="C8D4E8"/>
                </a:solidFill>
                <a:latin typeface="Calibri"/>
              </a:rPr>
              <a:t> — tens of thousands of addressable mid-market firms; multi‑$B risk / visibility software TAMs.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300">
                <a:solidFill>
                  <a:srgbClr val="22E3FF"/>
                </a:solidFill>
                <a:latin typeface="Calibri"/>
              </a:rPr>
              <a:t>BMW</a:t>
            </a:r>
            <a:r>
              <a:rPr b="0" sz="1300">
                <a:solidFill>
                  <a:srgbClr val="C8D4E8"/>
                </a:solidFill>
                <a:latin typeface="Calibri"/>
              </a:rPr>
              <a:t> — </a:t>
            </a:r>
            <a:r>
              <a:rPr b="1" sz="1300">
                <a:solidFill>
                  <a:srgbClr val="22E3FF"/>
                </a:solidFill>
                <a:latin typeface="Calibri"/>
              </a:rPr>
              <a:t>Connected Supply Chain Cockpit</a:t>
            </a:r>
            <a:r>
              <a:rPr b="0" sz="1300">
                <a:solidFill>
                  <a:srgbClr val="C8D4E8"/>
                </a:solidFill>
                <a:latin typeface="Calibri"/>
              </a:rPr>
              <a:t> for 40+ plants &amp; real-time material visibility (public implementation case studies).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300">
                <a:solidFill>
                  <a:srgbClr val="22E3FF"/>
                </a:solidFill>
                <a:latin typeface="Calibri"/>
              </a:rPr>
              <a:t>Siemens</a:t>
            </a:r>
            <a:r>
              <a:rPr b="0" sz="1300">
                <a:solidFill>
                  <a:srgbClr val="C8D4E8"/>
                </a:solidFill>
                <a:latin typeface="Calibri"/>
              </a:rPr>
              <a:t> — </a:t>
            </a:r>
            <a:r>
              <a:rPr b="1" sz="1300">
                <a:solidFill>
                  <a:srgbClr val="22E3FF"/>
                </a:solidFill>
                <a:latin typeface="Calibri"/>
              </a:rPr>
              <a:t>supply-chain control-tower</a:t>
            </a:r>
            <a:r>
              <a:rPr b="0" sz="1300">
                <a:solidFill>
                  <a:srgbClr val="C8D4E8"/>
                </a:solidFill>
                <a:latin typeface="Calibri"/>
              </a:rPr>
              <a:t> / end-to-end visibility software &amp; white papers (industrial / CP&amp;R).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300">
                <a:solidFill>
                  <a:srgbClr val="22E3FF"/>
                </a:solidFill>
                <a:latin typeface="Calibri"/>
              </a:rPr>
              <a:t>P&amp;G</a:t>
            </a:r>
            <a:r>
              <a:rPr b="0" sz="1300">
                <a:solidFill>
                  <a:srgbClr val="C8D4E8"/>
                </a:solidFill>
                <a:latin typeface="Calibri"/>
              </a:rPr>
              <a:t>, </a:t>
            </a:r>
            <a:r>
              <a:rPr b="1" sz="1300">
                <a:solidFill>
                  <a:srgbClr val="22E3FF"/>
                </a:solidFill>
                <a:latin typeface="Calibri"/>
              </a:rPr>
              <a:t>Merck</a:t>
            </a:r>
            <a:r>
              <a:rPr b="0" sz="1300">
                <a:solidFill>
                  <a:srgbClr val="C8D4E8"/>
                </a:solidFill>
                <a:latin typeface="Calibri"/>
              </a:rPr>
              <a:t>, </a:t>
            </a:r>
            <a:r>
              <a:rPr b="1" sz="1300">
                <a:solidFill>
                  <a:srgbClr val="22E3FF"/>
                </a:solidFill>
                <a:latin typeface="Calibri"/>
              </a:rPr>
              <a:t>Castrol (BP)</a:t>
            </a:r>
            <a:r>
              <a:rPr b="0" sz="1300">
                <a:solidFill>
                  <a:srgbClr val="C8D4E8"/>
                </a:solidFill>
                <a:latin typeface="Calibri"/>
              </a:rPr>
              <a:t> — named </a:t>
            </a:r>
            <a:r>
              <a:rPr b="1" sz="1300">
                <a:solidFill>
                  <a:srgbClr val="22E3FF"/>
                </a:solidFill>
                <a:latin typeface="Calibri"/>
              </a:rPr>
              <a:t>Kinaxis</a:t>
            </a:r>
            <a:r>
              <a:rPr b="0" sz="1300">
                <a:solidFill>
                  <a:srgbClr val="C8D4E8"/>
                </a:solidFill>
                <a:latin typeface="Calibri"/>
              </a:rPr>
              <a:t> customers for large-scale supply-chain planning &amp; transparency (vendor case studies / press).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3935" y="5705857"/>
            <a:ext cx="4434840" cy="649223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CP&amp;R — Commercial products &amp; raw materials (industrial)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EU — European Union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ICP — Ideal customer profile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TAM — Total addressable market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US — United States</a:t>
            </a:r>
          </a:p>
        </p:txBody>
      </p:sp>
      <p:pic>
        <p:nvPicPr>
          <p:cNvPr id="14" name="Picture 13" descr="riscon-mark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87" y="502920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60000">
            <a:off x="6400800" y="-548640"/>
            <a:ext cx="6583680" cy="841248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35240" y="228600"/>
            <a:ext cx="54864" cy="64008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228600"/>
            <a:ext cx="54864" cy="6400800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2560320" cy="164592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7472"/>
            <a:ext cx="1118585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Consolas"/>
              </a:rPr>
              <a:t>2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THE SOLUTION — RISCON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19072"/>
            <a:ext cx="109728" cy="3977639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5855" cy="3977640"/>
          </a:xfrm>
          <a:prstGeom prst="roundRect">
            <a:avLst/>
          </a:prstGeom>
          <a:solidFill>
            <a:srgbClr val="12182A"/>
          </a:solidFill>
          <a:ln w="31750">
            <a:solidFill>
              <a:srgbClr val="22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66544"/>
            <a:ext cx="1047262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Our wedge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</a:t>
            </a:r>
            <a:r>
              <a:rPr b="1" sz="1400">
                <a:solidFill>
                  <a:srgbClr val="22E3FF"/>
                </a:solidFill>
                <a:latin typeface="Calibri"/>
              </a:rPr>
              <a:t>headline noise → portfolio-level risk</a:t>
            </a:r>
            <a:r>
              <a:rPr b="0" sz="1400">
                <a:solidFill>
                  <a:srgbClr val="C8D4E8"/>
                </a:solidFill>
                <a:latin typeface="Calibri"/>
              </a:rPr>
              <a:t> on one live board...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What Riscon is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</a:t>
            </a:r>
            <a:r>
              <a:rPr b="1" sz="1400">
                <a:solidFill>
                  <a:srgbClr val="22E3FF"/>
                </a:solidFill>
                <a:latin typeface="Calibri"/>
              </a:rPr>
              <a:t>Live supply-chain risk cockpit:</a:t>
            </a:r>
            <a:r>
              <a:rPr b="0" sz="1400">
                <a:solidFill>
                  <a:srgbClr val="C8D4E8"/>
                </a:solidFill>
                <a:latin typeface="Calibri"/>
              </a:rPr>
              <a:t> AI </a:t>
            </a:r>
            <a:r>
              <a:rPr b="1" sz="1400">
                <a:solidFill>
                  <a:srgbClr val="22E3FF"/>
                </a:solidFill>
                <a:latin typeface="Calibri"/>
              </a:rPr>
              <a:t>classifies maritime &amp; logistics news in real time</a:t>
            </a:r>
            <a:r>
              <a:rPr b="0" sz="1400">
                <a:solidFill>
                  <a:srgbClr val="C8D4E8"/>
                </a:solidFill>
                <a:latin typeface="Calibri"/>
              </a:rPr>
              <a:t>, </a:t>
            </a:r>
            <a:r>
              <a:rPr b="1" sz="1400">
                <a:solidFill>
                  <a:srgbClr val="22E3FF"/>
                </a:solidFill>
                <a:latin typeface="Calibri"/>
              </a:rPr>
              <a:t>fuses</a:t>
            </a:r>
            <a:r>
              <a:rPr b="0" sz="1400">
                <a:solidFill>
                  <a:srgbClr val="C8D4E8"/>
                </a:solidFill>
                <a:latin typeface="Calibri"/>
              </a:rPr>
              <a:t> it with </a:t>
            </a:r>
            <a:r>
              <a:rPr b="1" sz="1400">
                <a:solidFill>
                  <a:srgbClr val="22E3FF"/>
                </a:solidFill>
                <a:latin typeface="Calibri"/>
              </a:rPr>
              <a:t>your</a:t>
            </a:r>
            <a:r>
              <a:rPr b="0" sz="1400">
                <a:solidFill>
                  <a:srgbClr val="C8D4E8"/>
                </a:solidFill>
                <a:latin typeface="Calibri"/>
              </a:rPr>
              <a:t> plants, suppliers, and </a:t>
            </a:r>
            <a:r>
              <a:rPr b="1" sz="1400">
                <a:solidFill>
                  <a:srgbClr val="22E3FF"/>
                </a:solidFill>
                <a:latin typeface="Calibri"/>
              </a:rPr>
              <a:t>fleet context</a:t>
            </a:r>
            <a:r>
              <a:rPr b="0" sz="1400">
                <a:solidFill>
                  <a:srgbClr val="C8D4E8"/>
                </a:solidFill>
                <a:latin typeface="Calibri"/>
              </a:rPr>
              <a:t>, and </a:t>
            </a:r>
            <a:r>
              <a:rPr b="1" sz="1400">
                <a:solidFill>
                  <a:srgbClr val="22E3FF"/>
                </a:solidFill>
                <a:latin typeface="Calibri"/>
              </a:rPr>
              <a:t>streams probability</a:t>
            </a:r>
            <a:r>
              <a:rPr b="0" sz="1400">
                <a:solidFill>
                  <a:srgbClr val="C8D4E8"/>
                </a:solidFill>
                <a:latin typeface="Calibri"/>
              </a:rPr>
              <a:t> to the control-tower UI (</a:t>
            </a:r>
            <a:r>
              <a:rPr b="1" sz="1400">
                <a:solidFill>
                  <a:srgbClr val="22E3FF"/>
                </a:solidFill>
                <a:latin typeface="Calibri"/>
              </a:rPr>
              <a:t>WebSockets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not weekly Excel packs).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Customer gains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why buyers care: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Speed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</a:t>
            </a:r>
            <a:r>
              <a:rPr b="1" sz="1200">
                <a:solidFill>
                  <a:srgbClr val="22E3FF"/>
                </a:solidFill>
                <a:latin typeface="Calibri"/>
              </a:rPr>
              <a:t>same-day</a:t>
            </a:r>
            <a:r>
              <a:rPr b="0" sz="1200">
                <a:solidFill>
                  <a:srgbClr val="C8D4E8"/>
                </a:solidFill>
                <a:latin typeface="Calibri"/>
              </a:rPr>
              <a:t>, </a:t>
            </a:r>
            <a:r>
              <a:rPr b="1" sz="1200">
                <a:solidFill>
                  <a:srgbClr val="22E3FF"/>
                </a:solidFill>
                <a:latin typeface="Calibri"/>
              </a:rPr>
              <a:t>site-aware</a:t>
            </a:r>
            <a:r>
              <a:rPr b="0" sz="1200">
                <a:solidFill>
                  <a:srgbClr val="C8D4E8"/>
                </a:solidFill>
                <a:latin typeface="Calibri"/>
              </a:rPr>
              <a:t> signals vs. </a:t>
            </a:r>
            <a:r>
              <a:rPr b="1" sz="1200">
                <a:solidFill>
                  <a:srgbClr val="22E3FF"/>
                </a:solidFill>
                <a:latin typeface="Calibri"/>
              </a:rPr>
              <a:t>24–48h</a:t>
            </a:r>
            <a:r>
              <a:rPr b="0" sz="1200">
                <a:solidFill>
                  <a:srgbClr val="C8D4E8"/>
                </a:solidFill>
                <a:latin typeface="Calibri"/>
              </a:rPr>
              <a:t> email / spreadsheet coordination.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Clarity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</a:t>
            </a:r>
            <a:r>
              <a:rPr b="1" sz="1200">
                <a:solidFill>
                  <a:srgbClr val="22E3FF"/>
                </a:solidFill>
                <a:latin typeface="Calibri"/>
              </a:rPr>
              <a:t>which plants &amp; suppliers</a:t>
            </a:r>
            <a:r>
              <a:rPr b="0" sz="1200">
                <a:solidFill>
                  <a:srgbClr val="C8D4E8"/>
                </a:solidFill>
                <a:latin typeface="Calibri"/>
              </a:rPr>
              <a:t> are in the risk zone, not a </a:t>
            </a:r>
            <a:r>
              <a:rPr b="1" sz="1200">
                <a:solidFill>
                  <a:srgbClr val="22E3FF"/>
                </a:solidFill>
                <a:latin typeface="Calibri"/>
              </a:rPr>
              <a:t>generic</a:t>
            </a:r>
            <a:r>
              <a:rPr b="0" sz="1200">
                <a:solidFill>
                  <a:srgbClr val="C8D4E8"/>
                </a:solidFill>
                <a:latin typeface="Calibri"/>
              </a:rPr>
              <a:t> news feed.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Alignment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</a:t>
            </a:r>
            <a:r>
              <a:rPr b="1" sz="1200">
                <a:solidFill>
                  <a:srgbClr val="22E3FF"/>
                </a:solidFill>
                <a:latin typeface="Calibri"/>
              </a:rPr>
              <a:t>one map + dashboard</a:t>
            </a:r>
            <a:r>
              <a:rPr b="0" sz="1200">
                <a:solidFill>
                  <a:srgbClr val="C8D4E8"/>
                </a:solidFill>
                <a:latin typeface="Calibri"/>
              </a:rPr>
              <a:t> for </a:t>
            </a:r>
            <a:r>
              <a:rPr b="1" sz="1200">
                <a:solidFill>
                  <a:srgbClr val="22E3FF"/>
                </a:solidFill>
                <a:latin typeface="Calibri"/>
              </a:rPr>
              <a:t>ops, procurement, leadership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fewer crisis calls, faster decisions.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Proof in the demo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</a:t>
            </a:r>
            <a:r>
              <a:rPr b="1" sz="1400">
                <a:solidFill>
                  <a:srgbClr val="22E3FF"/>
                </a:solidFill>
                <a:latin typeface="Calibri"/>
              </a:rPr>
              <a:t>news → probability → map</a:t>
            </a:r>
            <a:r>
              <a:rPr b="0" sz="1400">
                <a:solidFill>
                  <a:srgbClr val="C8D4E8"/>
                </a:solidFill>
                <a:latin typeface="Calibri"/>
              </a:rPr>
              <a:t> in one screen · </a:t>
            </a:r>
            <a:r>
              <a:rPr b="1" sz="1400">
                <a:solidFill>
                  <a:srgbClr val="22E3FF"/>
                </a:solidFill>
                <a:latin typeface="Calibri"/>
              </a:rPr>
              <a:t>Docker</a:t>
            </a:r>
            <a:r>
              <a:rPr b="0" sz="1400">
                <a:solidFill>
                  <a:srgbClr val="C8D4E8"/>
                </a:solidFill>
                <a:latin typeface="Calibri"/>
              </a:rPr>
              <a:t> microservices (Spring, React, agents) for </a:t>
            </a:r>
            <a:r>
              <a:rPr b="1" sz="1400">
                <a:solidFill>
                  <a:srgbClr val="22E3FF"/>
                </a:solidFill>
                <a:latin typeface="Calibri"/>
              </a:rPr>
              <a:t>fast pilots</a:t>
            </a:r>
            <a:r>
              <a:rPr b="0" sz="1400">
                <a:solidFill>
                  <a:srgbClr val="C8D4E8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3935" y="6029554"/>
            <a:ext cx="4434840" cy="325526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AI — Artificial intelligence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UI — User interface</a:t>
            </a:r>
          </a:p>
        </p:txBody>
      </p:sp>
      <p:pic>
        <p:nvPicPr>
          <p:cNvPr id="14" name="Picture 13" descr="riscon-mark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87" y="502920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60000">
            <a:off x="6400800" y="-548640"/>
            <a:ext cx="6583680" cy="841248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35240" y="228600"/>
            <a:ext cx="54864" cy="64008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228600"/>
            <a:ext cx="54864" cy="6400800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2560320" cy="164592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7472"/>
            <a:ext cx="1118585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Consolas"/>
              </a:rPr>
              <a:t>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REVENUE · GO-TO-MARKET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19072"/>
            <a:ext cx="109728" cy="3977639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5855" cy="3977640"/>
          </a:xfrm>
          <a:prstGeom prst="roundRect">
            <a:avLst/>
          </a:prstGeom>
          <a:solidFill>
            <a:srgbClr val="12182A"/>
          </a:solidFill>
          <a:ln w="31750">
            <a:solidFill>
              <a:srgbClr val="22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66544"/>
            <a:ext cx="1047262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Who buys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0" sz="1200">
                <a:solidFill>
                  <a:srgbClr val="C8D4E8"/>
                </a:solidFill>
                <a:latin typeface="Calibri"/>
              </a:rPr>
              <a:t>VP Supply Chain / CPO / Head of Logistics; </a:t>
            </a:r>
            <a:r>
              <a:rPr b="1" sz="1200">
                <a:solidFill>
                  <a:srgbClr val="22E3FF"/>
                </a:solidFill>
                <a:latin typeface="Calibri"/>
              </a:rPr>
              <a:t>3PLs / 4PLs</a:t>
            </a:r>
            <a:r>
              <a:rPr b="0" sz="1200">
                <a:solidFill>
                  <a:srgbClr val="C8D4E8"/>
                </a:solidFill>
                <a:latin typeface="Calibri"/>
              </a:rPr>
              <a:t> later for </a:t>
            </a:r>
            <a:r>
              <a:rPr b="1" sz="1200">
                <a:solidFill>
                  <a:srgbClr val="22E3FF"/>
                </a:solidFill>
                <a:latin typeface="Calibri"/>
              </a:rPr>
              <a:t>white-label</a:t>
            </a:r>
            <a:r>
              <a:rPr b="0" sz="1200">
                <a:solidFill>
                  <a:srgbClr val="C8D4E8"/>
                </a:solidFill>
                <a:latin typeface="Calibri"/>
              </a:rPr>
              <a:t> risk views to shippers.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Pricing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anchors (tune to ICP)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~$25–75/user/mo</a:t>
            </a:r>
            <a:r>
              <a:rPr b="0" sz="1200">
                <a:solidFill>
                  <a:srgbClr val="C8D4E8"/>
                </a:solidFill>
                <a:latin typeface="Calibri"/>
              </a:rPr>
              <a:t> team tier </a:t>
            </a:r>
            <a:r>
              <a:rPr b="1" sz="1200">
                <a:solidFill>
                  <a:srgbClr val="22E3FF"/>
                </a:solidFill>
                <a:latin typeface="Calibri"/>
              </a:rPr>
              <a:t>or</a:t>
            </a:r>
            <a:r>
              <a:rPr b="0" sz="1200">
                <a:solidFill>
                  <a:srgbClr val="C8D4E8"/>
                </a:solidFill>
                <a:latin typeface="Calibri"/>
              </a:rPr>
              <a:t> </a:t>
            </a:r>
            <a:r>
              <a:rPr b="1" sz="1200">
                <a:solidFill>
                  <a:srgbClr val="22E3FF"/>
                </a:solidFill>
                <a:latin typeface="Calibri"/>
              </a:rPr>
              <a:t>~$18k–60k/yr</a:t>
            </a:r>
            <a:r>
              <a:rPr b="0" sz="1200">
                <a:solidFill>
                  <a:srgbClr val="C8D4E8"/>
                </a:solidFill>
                <a:latin typeface="Calibri"/>
              </a:rPr>
              <a:t> platform for mid-market (10–50 sites) + minimums.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Economics</a:t>
            </a:r>
            <a:r>
              <a:rPr b="0" sz="1400">
                <a:solidFill>
                  <a:srgbClr val="C8D4E8"/>
                </a:solidFill>
                <a:latin typeface="Calibri"/>
              </a:rPr>
              <a:t> (illustrative)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~$40k ACV</a:t>
            </a:r>
            <a:r>
              <a:rPr b="0" sz="1200">
                <a:solidFill>
                  <a:srgbClr val="C8D4E8"/>
                </a:solidFill>
                <a:latin typeface="Calibri"/>
              </a:rPr>
              <a:t>, </a:t>
            </a:r>
            <a:r>
              <a:rPr b="1" sz="1200">
                <a:solidFill>
                  <a:srgbClr val="22E3FF"/>
                </a:solidFill>
                <a:latin typeface="Calibri"/>
              </a:rPr>
              <a:t>~75%</a:t>
            </a:r>
            <a:r>
              <a:rPr b="0" sz="1200">
                <a:solidFill>
                  <a:srgbClr val="C8D4E8"/>
                </a:solidFill>
                <a:latin typeface="Calibri"/>
              </a:rPr>
              <a:t> gross margin after cloud + LLM; </a:t>
            </a:r>
            <a:r>
              <a:rPr b="1" sz="1200">
                <a:solidFill>
                  <a:srgbClr val="22E3FF"/>
                </a:solidFill>
                <a:latin typeface="Calibri"/>
              </a:rPr>
              <a:t>cap</a:t>
            </a:r>
            <a:r>
              <a:rPr b="0" sz="1200">
                <a:solidFill>
                  <a:srgbClr val="C8D4E8"/>
                </a:solidFill>
                <a:latin typeface="Calibri"/>
              </a:rPr>
              <a:t> AI usage; </a:t>
            </a:r>
            <a:r>
              <a:rPr b="1" sz="1200">
                <a:solidFill>
                  <a:srgbClr val="22E3FF"/>
                </a:solidFill>
                <a:latin typeface="Calibri"/>
              </a:rPr>
              <a:t>&lt;12 mo</a:t>
            </a:r>
            <a:r>
              <a:rPr b="0" sz="1200">
                <a:solidFill>
                  <a:srgbClr val="C8D4E8"/>
                </a:solidFill>
                <a:latin typeface="Calibri"/>
              </a:rPr>
              <a:t> CAC payback via inside sales + pilots.</a:t>
            </a:r>
          </a:p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First wins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GTM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Manufacturers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intros via </a:t>
            </a:r>
            <a:r>
              <a:rPr b="1" sz="1200">
                <a:solidFill>
                  <a:srgbClr val="22E3FF"/>
                </a:solidFill>
                <a:latin typeface="Calibri"/>
              </a:rPr>
              <a:t>VDMA / IHK / trade shows</a:t>
            </a:r>
            <a:r>
              <a:rPr b="0" sz="1200">
                <a:solidFill>
                  <a:srgbClr val="C8D4E8"/>
                </a:solidFill>
                <a:latin typeface="Calibri"/>
              </a:rPr>
              <a:t>; </a:t>
            </a:r>
            <a:r>
              <a:rPr b="1" sz="1200">
                <a:solidFill>
                  <a:srgbClr val="22E3FF"/>
                </a:solidFill>
                <a:latin typeface="Calibri"/>
              </a:rPr>
              <a:t>30-day pilots</a:t>
            </a:r>
            <a:r>
              <a:rPr b="0" sz="1200">
                <a:solidFill>
                  <a:srgbClr val="C8D4E8"/>
                </a:solidFill>
                <a:latin typeface="Calibri"/>
              </a:rPr>
              <a:t>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3PL</a:t>
            </a:r>
            <a:r>
              <a:rPr b="0" sz="1200">
                <a:solidFill>
                  <a:srgbClr val="C8D4E8"/>
                </a:solidFill>
                <a:latin typeface="Calibri"/>
              </a:rPr>
              <a:t> partners — co-branded </a:t>
            </a:r>
            <a:r>
              <a:rPr b="1" sz="1200">
                <a:solidFill>
                  <a:srgbClr val="22E3FF"/>
                </a:solidFill>
                <a:latin typeface="Calibri"/>
              </a:rPr>
              <a:t>shipper risk</a:t>
            </a:r>
            <a:r>
              <a:rPr b="0" sz="1200">
                <a:solidFill>
                  <a:srgbClr val="C8D4E8"/>
                </a:solidFill>
                <a:latin typeface="Calibri"/>
              </a:rPr>
              <a:t> widget.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One public case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“alert → action in minutes.” [EDIT: your distribution].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3935" y="5058463"/>
            <a:ext cx="4434840" cy="1296617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3PL — Third-party logistics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4PL — Fourth-party logistics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ACV — Annual contract value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AI — Artificial intelligence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CAC — Customer acquisition cost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CPO — Chief procurement officer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GTM — Go-to-market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ICP — Ideal customer profile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IHK — Chamber of Commerce and Industry (Germany)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LLM — Large language model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VDMA — German Engineering Federation (Verband)</a:t>
            </a:r>
          </a:p>
        </p:txBody>
      </p:sp>
      <p:pic>
        <p:nvPicPr>
          <p:cNvPr id="14" name="Picture 13" descr="riscon-mark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87" y="502920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60000">
            <a:off x="6400800" y="-548640"/>
            <a:ext cx="6583680" cy="841248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35240" y="228600"/>
            <a:ext cx="54864" cy="64008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228600"/>
            <a:ext cx="54864" cy="6400800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2560320" cy="164592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7472"/>
            <a:ext cx="1118585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Consolas"/>
              </a:rPr>
              <a:t>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TEAM — VECTOR DEVS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19072"/>
            <a:ext cx="109728" cy="4636008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5855" cy="4636008"/>
          </a:xfrm>
          <a:prstGeom prst="roundRect">
            <a:avLst/>
          </a:prstGeom>
          <a:solidFill>
            <a:srgbClr val="12182A"/>
          </a:solidFill>
          <a:ln w="31750">
            <a:solidFill>
              <a:srgbClr val="22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66544"/>
            <a:ext cx="10472623" cy="40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Why we</a:t>
            </a:r>
            <a:r>
              <a:rPr b="0" sz="1400">
                <a:solidFill>
                  <a:srgbClr val="C8D4E8"/>
                </a:solidFill>
                <a:latin typeface="Calibri"/>
              </a:rPr>
              <a:t> — execution &amp; team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Vector Devs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</a:t>
            </a:r>
            <a:r>
              <a:rPr b="1" sz="1200">
                <a:solidFill>
                  <a:srgbClr val="22E3FF"/>
                </a:solidFill>
                <a:latin typeface="Calibri"/>
              </a:rPr>
              <a:t>3 developers</a:t>
            </a:r>
            <a:r>
              <a:rPr b="0" sz="1200">
                <a:solidFill>
                  <a:srgbClr val="C8D4E8"/>
                </a:solidFill>
                <a:latin typeface="Calibri"/>
              </a:rPr>
              <a:t>, </a:t>
            </a:r>
            <a:r>
              <a:rPr b="1" sz="1200">
                <a:solidFill>
                  <a:srgbClr val="22E3FF"/>
                </a:solidFill>
                <a:latin typeface="Calibri"/>
              </a:rPr>
              <a:t>dream team</a:t>
            </a:r>
            <a:r>
              <a:rPr b="0" sz="1200">
                <a:solidFill>
                  <a:srgbClr val="C8D4E8"/>
                </a:solidFill>
                <a:latin typeface="Calibri"/>
              </a:rPr>
              <a:t>: </a:t>
            </a:r>
            <a:r>
              <a:rPr b="1" sz="1200">
                <a:solidFill>
                  <a:srgbClr val="22E3FF"/>
                </a:solidFill>
                <a:latin typeface="Calibri"/>
              </a:rPr>
              <a:t>deep experience</a:t>
            </a:r>
            <a:r>
              <a:rPr b="0" sz="1200">
                <a:solidFill>
                  <a:srgbClr val="C8D4E8"/>
                </a:solidFill>
                <a:latin typeface="Calibri"/>
              </a:rPr>
              <a:t>, </a:t>
            </a:r>
            <a:r>
              <a:rPr b="1" sz="1200">
                <a:solidFill>
                  <a:srgbClr val="22E3FF"/>
                </a:solidFill>
                <a:latin typeface="Calibri"/>
              </a:rPr>
              <a:t>rapid prototyping</a:t>
            </a:r>
            <a:r>
              <a:rPr b="0" sz="1200">
                <a:solidFill>
                  <a:srgbClr val="C8D4E8"/>
                </a:solidFill>
                <a:latin typeface="Calibri"/>
              </a:rPr>
              <a:t>, end-to-end ownership.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Hackathon build:</a:t>
            </a:r>
            <a:r>
              <a:rPr b="0" sz="1200">
                <a:solidFill>
                  <a:srgbClr val="C8D4E8"/>
                </a:solidFill>
                <a:latin typeface="Calibri"/>
              </a:rPr>
              <a:t> full stack — agents, probability service, React dashboard, Docker — </a:t>
            </a:r>
            <a:r>
              <a:rPr b="1" sz="1200">
                <a:solidFill>
                  <a:srgbClr val="22E3FF"/>
                </a:solidFill>
                <a:latin typeface="Calibri"/>
              </a:rPr>
              <a:t>delivered in 27.5 hours</a:t>
            </a:r>
            <a:r>
              <a:rPr b="0" sz="1200">
                <a:solidFill>
                  <a:srgbClr val="C8D4E8"/>
                </a:solidFill>
                <a:latin typeface="Calibri"/>
              </a:rPr>
              <a:t> (not slides only — </a:t>
            </a:r>
            <a:r>
              <a:rPr b="1" sz="1200">
                <a:solidFill>
                  <a:srgbClr val="22E3FF"/>
                </a:solidFill>
                <a:latin typeface="Calibri"/>
              </a:rPr>
              <a:t>shipped</a:t>
            </a:r>
            <a:r>
              <a:rPr b="0" sz="1200">
                <a:solidFill>
                  <a:srgbClr val="C8D4E8"/>
                </a:solidFill>
                <a:latin typeface="Calibri"/>
              </a:rPr>
              <a:t>).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Meet the team</a:t>
            </a:r>
            <a:r>
              <a:rPr b="0" sz="1200">
                <a:solidFill>
                  <a:srgbClr val="C8D4E8"/>
                </a:solidFill>
                <a:latin typeface="Calibri"/>
              </a:rPr>
              <a:t> (LinkedIn)</a:t>
            </a:r>
          </a:p>
          <a:p>
            <a:pPr lvl="2">
              <a:lnSpc>
                <a:spcPct val="110000"/>
              </a:lnSpc>
              <a:spcAft>
                <a:spcPts val="400"/>
              </a:spcAft>
              <a:buChar char="•"/>
            </a:pPr>
            <a:r>
              <a:rPr b="1" sz="1000">
                <a:solidFill>
                  <a:srgbClr val="22E3FF"/>
                </a:solidFill>
                <a:latin typeface="Calibri"/>
              </a:rPr>
              <a:t>Balaji Vengatesh M</a:t>
            </a:r>
            <a:r>
              <a:rPr b="0" sz="1000">
                <a:solidFill>
                  <a:srgbClr val="C8D4E8"/>
                </a:solidFill>
                <a:latin typeface="Calibri"/>
              </a:rPr>
              <a:t> — https://www.linkedin.com/in/balaji-vengatesh-m-3b871151/</a:t>
            </a:r>
          </a:p>
          <a:p>
            <a:pPr lvl="2">
              <a:lnSpc>
                <a:spcPct val="110000"/>
              </a:lnSpc>
              <a:spcAft>
                <a:spcPts val="400"/>
              </a:spcAft>
              <a:buChar char="•"/>
            </a:pPr>
            <a:r>
              <a:rPr b="1" sz="1000">
                <a:solidFill>
                  <a:srgbClr val="22E3FF"/>
                </a:solidFill>
                <a:latin typeface="Calibri"/>
              </a:rPr>
              <a:t>Sven Schmeckenbecher</a:t>
            </a:r>
            <a:r>
              <a:rPr b="0" sz="1000">
                <a:solidFill>
                  <a:srgbClr val="C8D4E8"/>
                </a:solidFill>
                <a:latin typeface="Calibri"/>
              </a:rPr>
              <a:t> — https://www.linkedin.com/in/sven-schmeckenbecher</a:t>
            </a:r>
          </a:p>
          <a:p>
            <a:pPr lvl="2">
              <a:lnSpc>
                <a:spcPct val="110000"/>
              </a:lnSpc>
              <a:spcAft>
                <a:spcPts val="400"/>
              </a:spcAft>
              <a:buChar char="•"/>
            </a:pPr>
            <a:r>
              <a:rPr b="1" sz="1000">
                <a:solidFill>
                  <a:srgbClr val="22E3FF"/>
                </a:solidFill>
                <a:latin typeface="Calibri"/>
              </a:rPr>
              <a:t>Sreekanth Kata</a:t>
            </a:r>
            <a:r>
              <a:rPr b="0" sz="1000">
                <a:solidFill>
                  <a:srgbClr val="C8D4E8"/>
                </a:solidFill>
                <a:latin typeface="Calibri"/>
              </a:rPr>
              <a:t> — https://www.linkedin.com/in/sreekanth-kata-3096471bb/</a:t>
            </a:r>
          </a:p>
        </p:txBody>
      </p:sp>
      <p:pic>
        <p:nvPicPr>
          <p:cNvPr id="13" name="Picture 12" descr="riscon-mark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87" y="502920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60000">
            <a:off x="6400800" y="-548640"/>
            <a:ext cx="6583680" cy="841248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35240" y="228600"/>
            <a:ext cx="54864" cy="64008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228600"/>
            <a:ext cx="54864" cy="6400800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2560320" cy="164592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7472"/>
            <a:ext cx="11185855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>
                <a:solidFill>
                  <a:srgbClr val="CCFF00"/>
                </a:solidFill>
                <a:latin typeface="Consolas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713232"/>
            <a:ext cx="11185855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 Light"/>
              </a:rPr>
              <a:t>WHY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19072"/>
            <a:ext cx="109728" cy="3977639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719072"/>
            <a:ext cx="11185855" cy="3977640"/>
          </a:xfrm>
          <a:prstGeom prst="roundRect">
            <a:avLst/>
          </a:prstGeom>
          <a:solidFill>
            <a:srgbClr val="12182A"/>
          </a:solidFill>
          <a:ln w="31750">
            <a:solidFill>
              <a:srgbClr val="22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66544"/>
            <a:ext cx="10472623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buChar char="•"/>
            </a:pPr>
            <a:r>
              <a:rPr b="1" sz="1400">
                <a:solidFill>
                  <a:srgbClr val="22E3FF"/>
                </a:solidFill>
                <a:latin typeface="Calibri"/>
              </a:rPr>
              <a:t>Market + geopolitical urgency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Middle East / Iran tensions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escalations have </a:t>
            </a:r>
            <a:r>
              <a:rPr b="1" sz="1200">
                <a:solidFill>
                  <a:srgbClr val="22E3FF"/>
                </a:solidFill>
                <a:latin typeface="Calibri"/>
              </a:rPr>
              <a:t>raised maritime supply-chain risk</a:t>
            </a:r>
            <a:r>
              <a:rPr b="0" sz="1200">
                <a:solidFill>
                  <a:srgbClr val="C8D4E8"/>
                </a:solidFill>
                <a:latin typeface="Calibri"/>
              </a:rPr>
              <a:t> (e.g. </a:t>
            </a:r>
            <a:r>
              <a:rPr b="1" sz="1200">
                <a:solidFill>
                  <a:srgbClr val="22E3FF"/>
                </a:solidFill>
                <a:latin typeface="Calibri"/>
              </a:rPr>
              <a:t>Strait of Hormuz</a:t>
            </a:r>
            <a:r>
              <a:rPr b="0" sz="1200">
                <a:solidFill>
                  <a:srgbClr val="C8D4E8"/>
                </a:solidFill>
                <a:latin typeface="Calibri"/>
              </a:rPr>
              <a:t> chokepoint, </a:t>
            </a:r>
            <a:r>
              <a:rPr b="1" sz="1200">
                <a:solidFill>
                  <a:srgbClr val="22E3FF"/>
                </a:solidFill>
                <a:latin typeface="Calibri"/>
              </a:rPr>
              <a:t>war-risk insurance</a:t>
            </a:r>
            <a:r>
              <a:rPr b="0" sz="1200">
                <a:solidFill>
                  <a:srgbClr val="C8D4E8"/>
                </a:solidFill>
                <a:latin typeface="Calibri"/>
              </a:rPr>
              <a:t> &amp; </a:t>
            </a:r>
            <a:r>
              <a:rPr b="1" sz="1200">
                <a:solidFill>
                  <a:srgbClr val="22E3FF"/>
                </a:solidFill>
                <a:latin typeface="Calibri"/>
              </a:rPr>
              <a:t>freight</a:t>
            </a:r>
            <a:r>
              <a:rPr b="0" sz="1200">
                <a:solidFill>
                  <a:srgbClr val="C8D4E8"/>
                </a:solidFill>
                <a:latin typeface="Calibri"/>
              </a:rPr>
              <a:t> repricing, </a:t>
            </a:r>
            <a:r>
              <a:rPr b="1" sz="1200">
                <a:solidFill>
                  <a:srgbClr val="22E3FF"/>
                </a:solidFill>
                <a:latin typeface="Calibri"/>
              </a:rPr>
              <a:t>carrier rerouting</a:t>
            </a:r>
            <a:r>
              <a:rPr b="0" sz="1200">
                <a:solidFill>
                  <a:srgbClr val="C8D4E8"/>
                </a:solidFill>
                <a:latin typeface="Calibri"/>
              </a:rPr>
              <a:t>). </a:t>
            </a:r>
            <a:r>
              <a:rPr b="1" sz="1200">
                <a:solidFill>
                  <a:srgbClr val="22E3FF"/>
                </a:solidFill>
                <a:latin typeface="Calibri"/>
              </a:rPr>
              <a:t>Global trade &amp; energy</a:t>
            </a:r>
            <a:r>
              <a:rPr b="0" sz="1200">
                <a:solidFill>
                  <a:srgbClr val="C8D4E8"/>
                </a:solidFill>
                <a:latin typeface="Calibri"/>
              </a:rPr>
              <a:t> flows get </a:t>
            </a:r>
            <a:r>
              <a:rPr b="1" sz="1200">
                <a:solidFill>
                  <a:srgbClr val="22E3FF"/>
                </a:solidFill>
                <a:latin typeface="Calibri"/>
              </a:rPr>
              <a:t>scrutiny</a:t>
            </a:r>
            <a:r>
              <a:rPr b="0" sz="1200">
                <a:solidFill>
                  <a:srgbClr val="C8D4E8"/>
                </a:solidFill>
                <a:latin typeface="Calibri"/>
              </a:rPr>
              <a:t>; coverage in </a:t>
            </a:r>
            <a:r>
              <a:rPr b="1" sz="1200">
                <a:solidFill>
                  <a:srgbClr val="22E3FF"/>
                </a:solidFill>
                <a:latin typeface="Calibri"/>
              </a:rPr>
              <a:t>Reuters</a:t>
            </a:r>
            <a:r>
              <a:rPr b="0" sz="1200">
                <a:solidFill>
                  <a:srgbClr val="C8D4E8"/>
                </a:solidFill>
                <a:latin typeface="Calibri"/>
              </a:rPr>
              <a:t>, </a:t>
            </a:r>
            <a:r>
              <a:rPr b="1" sz="1200">
                <a:solidFill>
                  <a:srgbClr val="22E3FF"/>
                </a:solidFill>
                <a:latin typeface="Calibri"/>
              </a:rPr>
              <a:t>CNBC</a:t>
            </a:r>
            <a:r>
              <a:rPr b="0" sz="1200">
                <a:solidFill>
                  <a:srgbClr val="C8D4E8"/>
                </a:solidFill>
                <a:latin typeface="Calibri"/>
              </a:rPr>
              <a:t>, </a:t>
            </a:r>
            <a:r>
              <a:rPr b="1" sz="1200">
                <a:solidFill>
                  <a:srgbClr val="22E3FF"/>
                </a:solidFill>
                <a:latin typeface="Calibri"/>
              </a:rPr>
              <a:t>Foreign Policy</a:t>
            </a:r>
            <a:r>
              <a:rPr b="0" sz="1200">
                <a:solidFill>
                  <a:srgbClr val="C8D4E8"/>
                </a:solidFill>
                <a:latin typeface="Calibri"/>
              </a:rPr>
              <a:t>, </a:t>
            </a:r>
            <a:r>
              <a:rPr b="1" sz="1200">
                <a:solidFill>
                  <a:srgbClr val="22E3FF"/>
                </a:solidFill>
                <a:latin typeface="Calibri"/>
              </a:rPr>
              <a:t>Janes</a:t>
            </a:r>
            <a:r>
              <a:rPr b="0" sz="1200">
                <a:solidFill>
                  <a:srgbClr val="C8D4E8"/>
                </a:solidFill>
                <a:latin typeface="Calibri"/>
              </a:rPr>
              <a:t> (2025–26) shows </a:t>
            </a:r>
            <a:r>
              <a:rPr b="1" sz="1200">
                <a:solidFill>
                  <a:srgbClr val="22E3FF"/>
                </a:solidFill>
                <a:latin typeface="Calibri"/>
              </a:rPr>
              <a:t>shipping</a:t>
            </a:r>
            <a:r>
              <a:rPr b="0" sz="1200">
                <a:solidFill>
                  <a:srgbClr val="C8D4E8"/>
                </a:solidFill>
                <a:latin typeface="Calibri"/>
              </a:rPr>
              <a:t> and </a:t>
            </a:r>
            <a:r>
              <a:rPr b="1" sz="1200">
                <a:solidFill>
                  <a:srgbClr val="22E3FF"/>
                </a:solidFill>
                <a:latin typeface="Calibri"/>
              </a:rPr>
              <a:t>boards</a:t>
            </a:r>
            <a:r>
              <a:rPr b="0" sz="1200">
                <a:solidFill>
                  <a:srgbClr val="C8D4E8"/>
                </a:solidFill>
                <a:latin typeface="Calibri"/>
              </a:rPr>
              <a:t> treating disruption as </a:t>
            </a:r>
            <a:r>
              <a:rPr b="1" sz="1200">
                <a:solidFill>
                  <a:srgbClr val="22E3FF"/>
                </a:solidFill>
                <a:latin typeface="Calibri"/>
              </a:rPr>
              <a:t>immediate</a:t>
            </a:r>
            <a:r>
              <a:rPr b="0" sz="1200">
                <a:solidFill>
                  <a:srgbClr val="C8D4E8"/>
                </a:solidFill>
                <a:latin typeface="Calibri"/>
              </a:rPr>
              <a:t>, not theoretical.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Customer sensitivity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teams need </a:t>
            </a:r>
            <a:r>
              <a:rPr b="1" sz="1200">
                <a:solidFill>
                  <a:srgbClr val="22E3FF"/>
                </a:solidFill>
                <a:latin typeface="Calibri"/>
              </a:rPr>
              <a:t>live</a:t>
            </a:r>
            <a:r>
              <a:rPr b="0" sz="1200">
                <a:solidFill>
                  <a:srgbClr val="C8D4E8"/>
                </a:solidFill>
                <a:latin typeface="Calibri"/>
              </a:rPr>
              <a:t> visibility into </a:t>
            </a:r>
            <a:r>
              <a:rPr b="1" sz="1200">
                <a:solidFill>
                  <a:srgbClr val="22E3FF"/>
                </a:solidFill>
                <a:latin typeface="Calibri"/>
              </a:rPr>
              <a:t>suppliers, lanes, and sites</a:t>
            </a:r>
            <a:r>
              <a:rPr b="0" sz="1200">
                <a:solidFill>
                  <a:srgbClr val="C8D4E8"/>
                </a:solidFill>
                <a:latin typeface="Calibri"/>
              </a:rPr>
              <a:t> when </a:t>
            </a:r>
            <a:r>
              <a:rPr b="1" sz="1200">
                <a:solidFill>
                  <a:srgbClr val="22E3FF"/>
                </a:solidFill>
                <a:latin typeface="Calibri"/>
              </a:rPr>
              <a:t>geopolitical shocks</a:t>
            </a:r>
            <a:r>
              <a:rPr b="0" sz="1200">
                <a:solidFill>
                  <a:srgbClr val="C8D4E8"/>
                </a:solidFill>
                <a:latin typeface="Calibri"/>
              </a:rPr>
              <a:t> hit; </a:t>
            </a:r>
            <a:r>
              <a:rPr b="1" sz="1200">
                <a:solidFill>
                  <a:srgbClr val="22E3FF"/>
                </a:solidFill>
                <a:latin typeface="Calibri"/>
              </a:rPr>
              <a:t>Excel + email</a:t>
            </a:r>
            <a:r>
              <a:rPr b="0" sz="1200">
                <a:solidFill>
                  <a:srgbClr val="C8D4E8"/>
                </a:solidFill>
                <a:latin typeface="Calibri"/>
              </a:rPr>
              <a:t> cannot keep pace. </a:t>
            </a:r>
            <a:r>
              <a:rPr b="1" sz="1200">
                <a:solidFill>
                  <a:srgbClr val="22E3FF"/>
                </a:solidFill>
                <a:latin typeface="Calibri"/>
              </a:rPr>
              <a:t>Riscon</a:t>
            </a:r>
            <a:r>
              <a:rPr b="0" sz="1200">
                <a:solidFill>
                  <a:srgbClr val="C8D4E8"/>
                </a:solidFill>
                <a:latin typeface="Calibri"/>
              </a:rPr>
              <a:t> maps news → </a:t>
            </a:r>
            <a:r>
              <a:rPr b="1" sz="1200">
                <a:solidFill>
                  <a:srgbClr val="22E3FF"/>
                </a:solidFill>
                <a:latin typeface="Calibri"/>
              </a:rPr>
              <a:t>probability</a:t>
            </a:r>
            <a:r>
              <a:rPr b="0" sz="1200">
                <a:solidFill>
                  <a:srgbClr val="C8D4E8"/>
                </a:solidFill>
                <a:latin typeface="Calibri"/>
              </a:rPr>
              <a:t> → </a:t>
            </a:r>
            <a:r>
              <a:rPr b="1" sz="1200">
                <a:solidFill>
                  <a:srgbClr val="22E3FF"/>
                </a:solidFill>
                <a:latin typeface="Calibri"/>
              </a:rPr>
              <a:t>your</a:t>
            </a:r>
            <a:r>
              <a:rPr b="0" sz="1200">
                <a:solidFill>
                  <a:srgbClr val="C8D4E8"/>
                </a:solidFill>
                <a:latin typeface="Calibri"/>
              </a:rPr>
              <a:t> footprint.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har char="•"/>
            </a:pPr>
            <a:r>
              <a:rPr b="1" sz="1200">
                <a:solidFill>
                  <a:srgbClr val="22E3FF"/>
                </a:solidFill>
                <a:latin typeface="Calibri"/>
              </a:rPr>
              <a:t>Tech window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</a:t>
            </a:r>
            <a:r>
              <a:rPr b="1" sz="1200">
                <a:solidFill>
                  <a:srgbClr val="22E3FF"/>
                </a:solidFill>
                <a:latin typeface="Calibri"/>
              </a:rPr>
              <a:t>LLM APIs</a:t>
            </a:r>
            <a:r>
              <a:rPr b="0" sz="1200">
                <a:solidFill>
                  <a:srgbClr val="C8D4E8"/>
                </a:solidFill>
                <a:latin typeface="Calibri"/>
              </a:rPr>
              <a:t> make real-time classification affordable; </a:t>
            </a:r>
            <a:r>
              <a:rPr b="1" sz="1200">
                <a:solidFill>
                  <a:srgbClr val="22E3FF"/>
                </a:solidFill>
                <a:latin typeface="Calibri"/>
              </a:rPr>
              <a:t>resilience</a:t>
            </a:r>
            <a:r>
              <a:rPr b="0" sz="1200">
                <a:solidFill>
                  <a:srgbClr val="C8D4E8"/>
                </a:solidFill>
                <a:latin typeface="Calibri"/>
              </a:rPr>
              <a:t> budgets and </a:t>
            </a:r>
            <a:r>
              <a:rPr b="1" sz="1200">
                <a:solidFill>
                  <a:srgbClr val="22E3FF"/>
                </a:solidFill>
                <a:latin typeface="Calibri"/>
              </a:rPr>
              <a:t>board</a:t>
            </a:r>
            <a:r>
              <a:rPr b="0" sz="1200">
                <a:solidFill>
                  <a:srgbClr val="C8D4E8"/>
                </a:solidFill>
                <a:latin typeface="Calibri"/>
              </a:rPr>
              <a:t> pressure are up; incumbents still aren’t </a:t>
            </a:r>
            <a:r>
              <a:rPr b="1" sz="1200">
                <a:solidFill>
                  <a:srgbClr val="22E3FF"/>
                </a:solidFill>
                <a:latin typeface="Calibri"/>
              </a:rPr>
              <a:t>map-first</a:t>
            </a:r>
            <a:r>
              <a:rPr b="0" sz="1200">
                <a:solidFill>
                  <a:srgbClr val="C8D4E8"/>
                </a:solidFill>
                <a:latin typeface="Calibri"/>
              </a:rPr>
              <a:t> — room for a </a:t>
            </a:r>
            <a:r>
              <a:rPr b="1" sz="1200">
                <a:solidFill>
                  <a:srgbClr val="22E3FF"/>
                </a:solidFill>
                <a:latin typeface="Calibri"/>
              </a:rPr>
              <a:t>focused</a:t>
            </a:r>
            <a:r>
              <a:rPr b="0" sz="1200">
                <a:solidFill>
                  <a:srgbClr val="C8D4E8"/>
                </a:solidFill>
                <a:latin typeface="Calibri"/>
              </a:rPr>
              <a:t> control tower.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3935" y="6029554"/>
            <a:ext cx="4434840" cy="325526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API — Application programming interface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>
                <a:solidFill>
                  <a:srgbClr val="7A88A3"/>
                </a:solidFill>
                <a:latin typeface="Calibri"/>
              </a:rPr>
              <a:t>LLM — Large language model</a:t>
            </a:r>
          </a:p>
        </p:txBody>
      </p:sp>
      <p:pic>
        <p:nvPicPr>
          <p:cNvPr id="14" name="Picture 13" descr="riscon-mark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87" y="502920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660000">
            <a:off x="6400800" y="-548640"/>
            <a:ext cx="6583680" cy="8412480"/>
          </a:xfrm>
          <a:prstGeom prst="rect">
            <a:avLst/>
          </a:prstGeom>
          <a:solidFill>
            <a:srgbClr val="08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35240" y="228600"/>
            <a:ext cx="54864" cy="6400800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90688" y="228600"/>
            <a:ext cx="54864" cy="6400800"/>
          </a:xfrm>
          <a:prstGeom prst="rect">
            <a:avLst/>
          </a:prstGeom>
          <a:solidFill>
            <a:srgbClr val="22E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2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31375" y="0"/>
            <a:ext cx="2560320" cy="164592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11185855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11185855" cy="594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600" b="1">
                <a:solidFill>
                  <a:srgbClr val="CCFF00"/>
                </a:solidFill>
                <a:latin typeface="Consolas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11185855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500" b="1">
                <a:solidFill>
                  <a:srgbClr val="22E3FF"/>
                </a:solidFill>
                <a:latin typeface="Consolas"/>
              </a:rPr>
              <a:t>github.com/Vector-Devs/CursorHackathon</a:t>
            </a:r>
          </a:p>
        </p:txBody>
      </p:sp>
      <p:pic>
        <p:nvPicPr>
          <p:cNvPr id="11" name="Picture 10" descr="riscon-mark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087" y="502920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